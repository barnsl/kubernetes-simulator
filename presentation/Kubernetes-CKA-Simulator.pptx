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Purple Industries Kubernetes Learner Console — a hands-on CKA practice simulator. Two homes: the web console at purpleindustries.us/kubernetes and the open-source repo at github.com/BarnsL/Kubernetes-Simulator.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+ four headline capabilities: self-healing, declarative, elastic scaling, service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objects every CKA candidate must master — each is the subject of one or more missions in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is, in one slide: a Go CLI plus a React web GUI. The terminal shows the built-in self-test running the full inject → repair → grade loop with no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loop. Injected fault, inspect for the clue, apply one scoped repair, then the grader validates both spec and runtime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layout and the four design principles: separation of scenarios from grading, the API as source of truth, disposable-cluster-first, and offline by default via client-go/fake.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modes from one codebase: fully offline fake-client for studying anywhere, or live grading against a real kind/minikube cluster for exam-realistic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32 labs grouped into six domains spanning the CKA curriculum — from core workloads to security, scheduling, and cluster bootstrap.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mission end to end. Difficulty and domain, the learning goal, the injected broken state, the actual inspect-repair-verify commands, and the two pass criteria the grader enforces.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console at purpleindustries.us/kubernetes — six learning-first features built around a simulated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Free-play models 13 common kubectl verbs over a mutable cluster, and a learner-first dashboard mirrors the standard Kubernetes Dashboard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onboarding tracks: build and run the Go CLI, or start the React web console. Prereqs are minimal and it is MIT licensed.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The pitch in three words — break it, fix it, pass. Point people to the web console and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229600" y="640080"/>
            <a:ext cx="4754880" cy="4754880"/>
          </a:xfrm>
          <a:prstGeom prst="rect">
            <a:avLst/>
          </a:prstGeom>
        </p:spPr>
      </p:pic>
      <p:pic>
        <p:nvPicPr>
          <p:cNvPr id="3" name="Image 1" descr="D:/projects/kubernetes-pptx/assets/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669" y="1828800"/>
            <a:ext cx="3475227" cy="3657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89888"/>
            <a:ext cx="329184" cy="32918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43584" y="1371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INDUSTRIES   ·   KUBERNETES LEARNER CONSOLE</a:t>
            </a:r>
            <a:endParaRPr lang="en-US" sz="1250" dirty="0"/>
          </a:p>
        </p:txBody>
      </p:sp>
      <p:sp>
        <p:nvSpPr>
          <p:cNvPr id="6" name="Text 1"/>
          <p:cNvSpPr/>
          <p:nvPr/>
        </p:nvSpPr>
        <p:spPr>
          <a:xfrm>
            <a:off x="777240" y="182880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6600" dirty="0"/>
          </a:p>
        </p:txBody>
      </p:sp>
      <p:sp>
        <p:nvSpPr>
          <p:cNvPr id="7" name="Text 2"/>
          <p:cNvSpPr/>
          <p:nvPr/>
        </p:nvSpPr>
        <p:spPr>
          <a:xfrm>
            <a:off x="804672" y="3127248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CKA practice simulator</a:t>
            </a:r>
            <a:endParaRPr lang="en-US" sz="2700" dirty="0"/>
          </a:p>
        </p:txBody>
      </p:sp>
      <p:sp>
        <p:nvSpPr>
          <p:cNvPr id="8" name="Text 3"/>
          <p:cNvSpPr/>
          <p:nvPr/>
        </p:nvSpPr>
        <p:spPr>
          <a:xfrm>
            <a:off x="822960" y="384048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faults, repair workloads, and get graded against real Kubernetes API behavior — no cloud account required.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822960" y="5138928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241047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289804"/>
            <a:ext cx="265176" cy="2651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63040" y="51389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purpleindustries.us/kubernetes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822960" y="585216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241047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6003036"/>
            <a:ext cx="265176" cy="2651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58521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github.com/BarnsL/Kubernetes-Simulator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Kubernetes?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7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 </a:t>
            </a:r>
            <a:pPr indent="0" marL="0">
              <a:lnSpc>
                <a:spcPct val="122000"/>
              </a:lnSpc>
              <a:buNone/>
            </a:pPr>
            <a:r>
              <a:rPr lang="en-US" sz="175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open-source platform that automates the deployment, scaling, and operation of containerized applications across a cluster of machines.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669280" cy="2651760"/>
          </a:xfrm>
          <a:prstGeom prst="roundRect">
            <a:avLst>
              <a:gd name="adj" fmla="val 37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3529584"/>
            <a:ext cx="658368" cy="65836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" y="368759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352958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the desired state — Kubernetes makes it real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9536" y="4315968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cluster "run 3 replicas of this image" and the control plane continuously reconciles reality toward that goal — restarting, rescheduling, and replacing as needed. A CNCF graduated project and the industry-standard container orchestrator.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29400" y="1627632"/>
            <a:ext cx="4983480" cy="914400"/>
          </a:xfrm>
          <a:prstGeom prst="roundRect">
            <a:avLst>
              <a:gd name="adj" fmla="val 11000"/>
            </a:avLst>
          </a:prstGeom>
          <a:solidFill>
            <a:srgbClr val="F6F4FF"/>
          </a:solidFill>
          <a:ln/>
        </p:spPr>
      </p:sp>
      <p:sp>
        <p:nvSpPr>
          <p:cNvPr id="11" name="Shape 8"/>
          <p:cNvSpPr/>
          <p:nvPr/>
        </p:nvSpPr>
        <p:spPr>
          <a:xfrm>
            <a:off x="6867144" y="18288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919" y="1946575"/>
            <a:ext cx="276515" cy="2765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17465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589520" y="2057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Restarts, reschedules, and replaces unhealthy Pods automatically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629400" y="2651760"/>
            <a:ext cx="4983480" cy="914400"/>
          </a:xfrm>
          <a:prstGeom prst="roundRect">
            <a:avLst>
              <a:gd name="adj" fmla="val 11000"/>
            </a:avLst>
          </a:prstGeom>
          <a:solidFill>
            <a:srgbClr val="F6F4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867144" y="28529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19" y="2970703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89520" y="27706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589520" y="30815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in YAML; controllers reconcile continuously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629400" y="3675888"/>
            <a:ext cx="4983480" cy="914400"/>
          </a:xfrm>
          <a:prstGeom prst="roundRect">
            <a:avLst>
              <a:gd name="adj" fmla="val 11000"/>
            </a:avLst>
          </a:prstGeom>
          <a:solidFill>
            <a:srgbClr val="F6F4FF"/>
          </a:solidFill>
          <a:ln/>
        </p:spPr>
      </p:sp>
      <p:sp>
        <p:nvSpPr>
          <p:cNvPr id="21" name="Shape 16"/>
          <p:cNvSpPr/>
          <p:nvPr/>
        </p:nvSpPr>
        <p:spPr>
          <a:xfrm>
            <a:off x="6867144" y="387705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919" y="3994831"/>
            <a:ext cx="276515" cy="2765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37947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589520" y="41056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workloads up or down on demand or automatically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629400" y="4700016"/>
            <a:ext cx="4983480" cy="914400"/>
          </a:xfrm>
          <a:prstGeom prst="roundRect">
            <a:avLst>
              <a:gd name="adj" fmla="val 11000"/>
            </a:avLst>
          </a:prstGeom>
          <a:solidFill>
            <a:srgbClr val="F6F4FF"/>
          </a:solidFill>
          <a:ln/>
        </p:spPr>
      </p:sp>
      <p:sp>
        <p:nvSpPr>
          <p:cNvPr id="26" name="Shape 20"/>
          <p:cNvSpPr/>
          <p:nvPr/>
        </p:nvSpPr>
        <p:spPr>
          <a:xfrm>
            <a:off x="6867144" y="49011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919" y="5018959"/>
            <a:ext cx="276515" cy="27651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89520" y="48188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589520" y="512978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DNS, networking, and load balancing for Pods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7668" y="1810512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120" y="1997964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70048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4944" y="2990088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deployable unit — one or more containers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0824" y="1572768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9852" y="1810512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04" y="1997964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2264" y="2670048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37128" y="2990088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rollouts over self-healing ReplicaSets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33008" y="1572768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42036" y="1810512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488" y="1997964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4448" y="2670048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79312" y="2990088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network identity for a set of Pods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75191" y="1572768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84219" y="1810512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671" y="1997964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6631" y="2670048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&amp; Secret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21495" y="2990088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 configuration and sensitive data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57668" y="3986784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120" y="4174236"/>
            <a:ext cx="374904" cy="374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846320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&amp; PVC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94944" y="5166360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requests bound to volumes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90824" y="3749040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299852" y="3986784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304" y="4174236"/>
            <a:ext cx="374904" cy="374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82264" y="4846320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537128" y="5166360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bindings that authorize every action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33008" y="3749040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42036" y="3986784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488" y="4174236"/>
            <a:ext cx="374904" cy="3749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4448" y="4846320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379312" y="5166360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and isolation boundaries in a cluster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075191" y="3749040"/>
            <a:ext cx="2567864" cy="1975104"/>
          </a:xfrm>
          <a:prstGeom prst="roundRect">
            <a:avLst>
              <a:gd name="adj" fmla="val 509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984219" y="3986784"/>
            <a:ext cx="749808" cy="74980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1671" y="4174236"/>
            <a:ext cx="374904" cy="37490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66631" y="4846320"/>
            <a:ext cx="2384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9221495" y="5166360"/>
            <a:ext cx="227525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machines that actually run Pods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326880" y="-91440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2062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94944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CKA Practice Simulator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 CLI and web GUI for practicing Certified Kubernetes Administrator exam scenarios against a real or simulated cluster.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487168"/>
            <a:ext cx="548640" cy="548640"/>
          </a:xfrm>
          <a:prstGeom prst="ellipse">
            <a:avLst/>
          </a:prstGeom>
          <a:solidFill>
            <a:srgbClr val="24104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243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4688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authentic mission labs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298448" y="27980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networking, storage, RBAC, scheduling &amp; more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511296"/>
            <a:ext cx="548640" cy="548640"/>
          </a:xfrm>
          <a:prstGeom prst="ellipse">
            <a:avLst/>
          </a:prstGeom>
          <a:solidFill>
            <a:srgbClr val="24104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4845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49300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→ repair → grade loop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298448" y="38221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shape as real CKA exam tasks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4535424"/>
            <a:ext cx="548640" cy="548640"/>
          </a:xfrm>
          <a:prstGeom prst="ellipse">
            <a:avLst/>
          </a:prstGeom>
          <a:solidFill>
            <a:srgbClr val="24104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7258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451713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fake-client mode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1298448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cluster and no cloud account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46520" y="1463040"/>
            <a:ext cx="5193792" cy="4526280"/>
          </a:xfrm>
          <a:prstGeom prst="roundRect">
            <a:avLst>
              <a:gd name="adj" fmla="val 1818"/>
            </a:avLst>
          </a:prstGeom>
          <a:solidFill>
            <a:srgbClr val="1A1136"/>
          </a:solidFill>
          <a:ln/>
          <a:effectLst>
            <a:outerShdw sx="100000" sy="100000" kx="0" ky="0" algn="bl" rotWithShape="0" blurRad="114300" dist="38100" dir="5400000">
              <a:srgbClr val="2E1065">
                <a:alpha val="3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702552" y="170078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4"/>
          <p:cNvSpPr/>
          <p:nvPr/>
        </p:nvSpPr>
        <p:spPr>
          <a:xfrm>
            <a:off x="6922008" y="170078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5"/>
          <p:cNvSpPr/>
          <p:nvPr/>
        </p:nvSpPr>
        <p:spPr>
          <a:xfrm>
            <a:off x="7141464" y="170078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6"/>
          <p:cNvSpPr/>
          <p:nvPr/>
        </p:nvSpPr>
        <p:spPr>
          <a:xfrm>
            <a:off x="7452360" y="16276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cka-sim — self-test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757416" y="2029968"/>
            <a:ext cx="4645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build -o cka-sim ./cmd/cka-sim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./cka-sim self-test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scenario injected: demo-pod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set to nginx:no-such-tag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Pending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repair applied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→ nginx:1.25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pod reached Running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E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mission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30704" cy="3246120"/>
          </a:xfrm>
          <a:prstGeom prst="roundRect">
            <a:avLst>
              <a:gd name="adj" fmla="val 4138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67128"/>
            <a:ext cx="603504" cy="603504"/>
          </a:xfrm>
          <a:prstGeom prst="ellipse">
            <a:avLst/>
          </a:prstGeom>
          <a:solidFill>
            <a:srgbClr val="FCE3E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944" y="220370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971800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3392424"/>
            <a:ext cx="1882064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is injected into the cluster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407408"/>
            <a:ext cx="188206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" y="4407408"/>
            <a:ext cx="180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→ nginx:no-such-tag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52496" y="3296412"/>
            <a:ext cx="310896" cy="402336"/>
          </a:xfrm>
          <a:prstGeom prst="chevron">
            <a:avLst/>
          </a:prstGeom>
          <a:solidFill>
            <a:srgbClr val="C4B5FD"/>
          </a:solidFill>
          <a:ln/>
        </p:spPr>
      </p:sp>
      <p:sp>
        <p:nvSpPr>
          <p:cNvPr id="13" name="Shape 10"/>
          <p:cNvSpPr/>
          <p:nvPr/>
        </p:nvSpPr>
        <p:spPr>
          <a:xfrm>
            <a:off x="3436544" y="1874520"/>
            <a:ext cx="2430704" cy="3246120"/>
          </a:xfrm>
          <a:prstGeom prst="roundRect">
            <a:avLst>
              <a:gd name="adj" fmla="val 4138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10864" y="2167128"/>
            <a:ext cx="603504" cy="603504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5" name="Text 12"/>
          <p:cNvSpPr/>
          <p:nvPr/>
        </p:nvSpPr>
        <p:spPr>
          <a:xfrm>
            <a:off x="3710864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8" y="2203704"/>
            <a:ext cx="530352" cy="530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29152" y="2971800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729152" y="3392424"/>
            <a:ext cx="1882064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clue in events and spec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710864" y="4407408"/>
            <a:ext cx="188206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3747440" y="4407408"/>
            <a:ext cx="180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40400" y="3296412"/>
            <a:ext cx="310896" cy="402336"/>
          </a:xfrm>
          <a:prstGeom prst="chevron">
            <a:avLst/>
          </a:prstGeom>
          <a:solidFill>
            <a:srgbClr val="C4B5FD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874520"/>
            <a:ext cx="2430704" cy="3246120"/>
          </a:xfrm>
          <a:prstGeom prst="roundRect">
            <a:avLst>
              <a:gd name="adj" fmla="val 4138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98768" y="2167128"/>
            <a:ext cx="603504" cy="603504"/>
          </a:xfrm>
          <a:prstGeom prst="ellipse">
            <a:avLst/>
          </a:prstGeom>
          <a:solidFill>
            <a:srgbClr val="FCEFCE"/>
          </a:solidFill>
          <a:ln/>
        </p:spPr>
      </p:sp>
      <p:sp>
        <p:nvSpPr>
          <p:cNvPr id="24" name="Text 20"/>
          <p:cNvSpPr/>
          <p:nvPr/>
        </p:nvSpPr>
        <p:spPr>
          <a:xfrm>
            <a:off x="6598768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751" y="2203704"/>
            <a:ext cx="530352" cy="5303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17056" y="2971800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617056" y="3392424"/>
            <a:ext cx="1882064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targeted, scoped fix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598768" y="4407408"/>
            <a:ext cx="188206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/>
          <p:nvPr/>
        </p:nvSpPr>
        <p:spPr>
          <a:xfrm>
            <a:off x="6635344" y="4407408"/>
            <a:ext cx="180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…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828303" y="3296412"/>
            <a:ext cx="310896" cy="402336"/>
          </a:xfrm>
          <a:prstGeom prst="chevron">
            <a:avLst/>
          </a:prstGeom>
          <a:solidFill>
            <a:srgbClr val="C4B5FD"/>
          </a:solidFill>
          <a:ln/>
        </p:spPr>
      </p:sp>
      <p:sp>
        <p:nvSpPr>
          <p:cNvPr id="31" name="Shape 26"/>
          <p:cNvSpPr/>
          <p:nvPr/>
        </p:nvSpPr>
        <p:spPr>
          <a:xfrm>
            <a:off x="9212351" y="1874520"/>
            <a:ext cx="2430704" cy="3246120"/>
          </a:xfrm>
          <a:prstGeom prst="roundRect">
            <a:avLst>
              <a:gd name="adj" fmla="val 4138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486671" y="2167128"/>
            <a:ext cx="603504" cy="603504"/>
          </a:xfrm>
          <a:prstGeom prst="ellipse">
            <a:avLst/>
          </a:prstGeom>
          <a:solidFill>
            <a:srgbClr val="D7F6E7"/>
          </a:solidFill>
          <a:ln/>
        </p:spPr>
      </p:sp>
      <p:sp>
        <p:nvSpPr>
          <p:cNvPr id="33" name="Text 28"/>
          <p:cNvSpPr/>
          <p:nvPr/>
        </p:nvSpPr>
        <p:spPr>
          <a:xfrm>
            <a:off x="9486671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203704"/>
            <a:ext cx="530352" cy="53035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504959" y="2971800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9504959" y="3392424"/>
            <a:ext cx="1882064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+ runtime checked, pass / fail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9486671" y="4407408"/>
            <a:ext cx="188206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8" name="Text 32"/>
          <p:cNvSpPr/>
          <p:nvPr/>
        </p:nvSpPr>
        <p:spPr>
          <a:xfrm>
            <a:off x="9523247" y="4407408"/>
            <a:ext cx="180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= Running ✓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just read about Kubernetes — you break it, diagnose it, and fix it like an operator.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989320" cy="4297680"/>
          </a:xfrm>
          <a:prstGeom prst="roundRect">
            <a:avLst>
              <a:gd name="adj" fmla="val 1915"/>
            </a:avLst>
          </a:prstGeom>
          <a:solidFill>
            <a:srgbClr val="1A1136"/>
          </a:solidFill>
          <a:ln/>
          <a:effectLst>
            <a:outerShdw sx="100000" sy="100000" kx="0" ky="0" algn="bl" rotWithShape="0" blurRad="114300" dist="38100" dir="5400000">
              <a:srgbClr val="2E106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105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8105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7373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layout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2139696"/>
            <a:ext cx="5440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cmd/cka-sim/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CLI entrypoint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internal/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grader/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pod state · image · readiness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injector/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broken images · misconfigs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scenarios/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scenario definitions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selftest/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end-to-end fake-client flow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web/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React + TypeScript GUI (Vite)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./...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all green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627632"/>
            <a:ext cx="4782312" cy="960120"/>
          </a:xfrm>
          <a:prstGeom prst="roundRect">
            <a:avLst>
              <a:gd name="adj" fmla="val 10476"/>
            </a:avLst>
          </a:prstGeom>
          <a:solidFill>
            <a:srgbClr val="F6F4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77456" y="184708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740" y="1974372"/>
            <a:ext cx="275783" cy="27578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90688" y="1764792"/>
            <a:ext cx="368503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790688" y="2084832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definitions live apart from grading logic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0" y="2697480"/>
            <a:ext cx="4782312" cy="960120"/>
          </a:xfrm>
          <a:prstGeom prst="roundRect">
            <a:avLst>
              <a:gd name="adj" fmla="val 10476"/>
            </a:avLst>
          </a:prstGeom>
          <a:solidFill>
            <a:srgbClr val="F6F4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077456" y="2916936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740" y="3044220"/>
            <a:ext cx="275783" cy="27578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90688" y="2834640"/>
            <a:ext cx="368503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is the source of truth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790688" y="3154680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reads real Kubernetes object state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58000" y="3767328"/>
            <a:ext cx="4782312" cy="960120"/>
          </a:xfrm>
          <a:prstGeom prst="roundRect">
            <a:avLst>
              <a:gd name="adj" fmla="val 10476"/>
            </a:avLst>
          </a:prstGeom>
          <a:solidFill>
            <a:srgbClr val="F6F4FF"/>
          </a:solidFill>
          <a:ln/>
        </p:spPr>
      </p:sp>
      <p:sp>
        <p:nvSpPr>
          <p:cNvPr id="21" name="Shape 17"/>
          <p:cNvSpPr/>
          <p:nvPr/>
        </p:nvSpPr>
        <p:spPr>
          <a:xfrm>
            <a:off x="7077456" y="398678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740" y="4114068"/>
            <a:ext cx="275783" cy="27578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790688" y="3904488"/>
            <a:ext cx="368503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Disposable-cluster first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790688" y="4224528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run against throwaway local clusters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858000" y="4837176"/>
            <a:ext cx="4782312" cy="960120"/>
          </a:xfrm>
          <a:prstGeom prst="roundRect">
            <a:avLst>
              <a:gd name="adj" fmla="val 10476"/>
            </a:avLst>
          </a:prstGeom>
          <a:solidFill>
            <a:srgbClr val="F6F4FF"/>
          </a:solidFill>
          <a:ln/>
        </p:spPr>
      </p:sp>
      <p:sp>
        <p:nvSpPr>
          <p:cNvPr id="26" name="Shape 21"/>
          <p:cNvSpPr/>
          <p:nvPr/>
        </p:nvSpPr>
        <p:spPr>
          <a:xfrm>
            <a:off x="7077456" y="505663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740" y="5183916"/>
            <a:ext cx="275783" cy="27578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90688" y="4974336"/>
            <a:ext cx="368503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default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790688" y="5294376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client-go/fake powers practice with no cluster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RUN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offline, or grade a real cluster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38928" cy="4160520"/>
          </a:xfrm>
          <a:prstGeom prst="roundRect">
            <a:avLst>
              <a:gd name="adj" fmla="val 2418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02536"/>
            <a:ext cx="713232" cy="71323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80844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Fake-client mode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55648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2926080"/>
            <a:ext cx="4361688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offline using client-go/fake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cluster, no kubeconfig, no cloud account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repeatable scenarios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anywhere — on a plane, offline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04127" y="1691640"/>
            <a:ext cx="5138928" cy="4160520"/>
          </a:xfrm>
          <a:prstGeom prst="roundRect">
            <a:avLst>
              <a:gd name="adj" fmla="val 2418"/>
            </a:avLst>
          </a:prstGeom>
          <a:solidFill>
            <a:srgbClr val="2E1065"/>
          </a:solidFill>
          <a:ln/>
          <a:effectLst>
            <a:outerShdw sx="100000" sy="100000" kx="0" ky="0" algn="bl" rotWithShape="0" blurRad="114300" dist="38100" dir="5400000">
              <a:srgbClr val="2E106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33311" y="2002536"/>
            <a:ext cx="713232" cy="71323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619" y="2180844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2847" y="2057400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711135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CLUSTER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915607" y="2926080"/>
            <a:ext cx="4361688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against a real kubeconfig cluster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kind, minikube, or a full cluster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real kubectl muscle memory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actual exam conditions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766664" y="3442716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2E1065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766664" y="34427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MISSION LABS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the CKA curriculum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95360" y="5029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pPr algn="r" indent="0" marL="0">
              <a:buNone/>
            </a:pPr>
            <a:r>
              <a:rPr lang="en-US" sz="16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15258" cy="2139696"/>
          </a:xfrm>
          <a:prstGeom prst="roundRect">
            <a:avLst>
              <a:gd name="adj" fmla="val 4701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658368" cy="65836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011680"/>
            <a:ext cx="223509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&amp; controllers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724912"/>
            <a:ext cx="294833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image · Deployment rollout · readiness probe · CrashLoopBackOff · Job · CronJob · DaemonSet · StatefulSet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627632"/>
            <a:ext cx="3515258" cy="2139696"/>
          </a:xfrm>
          <a:prstGeom prst="roundRect">
            <a:avLst>
              <a:gd name="adj" fmla="val 4701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2538" y="1920240"/>
            <a:ext cx="658368" cy="65836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20848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7210" y="2011680"/>
            <a:ext cx="223509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storage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30826" y="2724912"/>
            <a:ext cx="294833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key · Secret env · resource requests · PV/PVC binding · finalizer troubleshooting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627632"/>
            <a:ext cx="3515258" cy="2139696"/>
          </a:xfrm>
          <a:prstGeom prst="roundRect">
            <a:avLst>
              <a:gd name="adj" fmla="val 4701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02117" y="1920240"/>
            <a:ext cx="658368" cy="65836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20848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06789" y="2011680"/>
            <a:ext cx="223509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services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20405" y="2724912"/>
            <a:ext cx="294833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selector · Ingress backend · NetworkPolicy · EndpointSlice · DNS policy · cross-namespace lookup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950208"/>
            <a:ext cx="3515258" cy="2139696"/>
          </a:xfrm>
          <a:prstGeom prst="roundRect">
            <a:avLst>
              <a:gd name="adj" fmla="val 4701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242816"/>
            <a:ext cx="658368" cy="65836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074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4334256"/>
            <a:ext cx="223509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41248" y="5047488"/>
            <a:ext cx="294833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scheduling clinic · taint &amp; toleration match · label selector repair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3950208"/>
            <a:ext cx="3515258" cy="2139696"/>
          </a:xfrm>
          <a:prstGeom prst="roundRect">
            <a:avLst>
              <a:gd name="adj" fmla="val 4701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2538" y="4242816"/>
            <a:ext cx="658368" cy="65836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40740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17210" y="4334256"/>
            <a:ext cx="223509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RBAC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30826" y="5047488"/>
            <a:ext cx="294833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binding · ServiceAccount binding · token mount control · Pod Security Baseline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3950208"/>
            <a:ext cx="3515258" cy="2139696"/>
          </a:xfrm>
          <a:prstGeom prst="roundRect">
            <a:avLst>
              <a:gd name="adj" fmla="val 4701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02117" y="4242816"/>
            <a:ext cx="658368" cy="65836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40740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06789" y="4334256"/>
            <a:ext cx="223509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setup &amp; tooling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420405" y="5047488"/>
            <a:ext cx="294833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verify · kind bootstrap · minikube · Hello Minikube · kubeadm path · namespace cleanup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MISSION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image repair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29968" y="157276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1572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bad image value and recover a Pod to Running.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is stuck because its container image tag is invalid. The fix maps directly to one failing field — but a pass needs both the right image and a healthy runtime state.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CE3E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11480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39136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STATE
</a:t>
            </a:r>
            <a:pPr indent="0" marL="0">
              <a:buNone/>
            </a:pPr>
            <a:r>
              <a:rPr lang="en-US" sz="125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demo-pod   0/1   Pending   ·   nginx:no-such-tag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1572768"/>
            <a:ext cx="5788152" cy="3611880"/>
          </a:xfrm>
          <a:prstGeom prst="roundRect">
            <a:avLst>
              <a:gd name="adj" fmla="val 2278"/>
            </a:avLst>
          </a:prstGeom>
          <a:solidFill>
            <a:srgbClr val="1A1136"/>
          </a:solidFill>
          <a:ln/>
          <a:effectLst>
            <a:outerShdw sx="100000" sy="100000" kx="0" ky="0" algn="bl" rotWithShape="0" blurRad="114300" dist="38100" dir="5400000">
              <a:srgbClr val="2E1065">
                <a:alpha val="3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08192" y="18105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327648" y="18105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547104" y="18105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173736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 → repair → verify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63056" y="2139696"/>
            <a:ext cx="52395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describe pod demo-pod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8B8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 nginx:no-such-tag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Events: Failed to pull image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set image pod/demo-pod \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app=nginx:1.25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pod/demo-pod image updated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wait --for=condition=Ready \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pod/demo-pod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pod/demo-pod condition met 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52160" y="5321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563270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D7F6E7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5632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spec.image = nginx:1.25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732520" y="563270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D7F6E7"/>
          </a:solidFill>
          <a:ln/>
        </p:spPr>
      </p:sp>
      <p:sp>
        <p:nvSpPr>
          <p:cNvPr id="23" name="Text 20"/>
          <p:cNvSpPr/>
          <p:nvPr/>
        </p:nvSpPr>
        <p:spPr>
          <a:xfrm>
            <a:off x="8732520" y="5632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status.phase = Running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PURPLEINDUSTRIES.US/KUBERNETES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learning console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Kubernetes concepts while you practice — terminal-first, with explanations at every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2103120"/>
          </a:xfrm>
          <a:prstGeom prst="roundRect">
            <a:avLst>
              <a:gd name="adj" fmla="val 478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75688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585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9260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kubectl terminal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264408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modeled commands safely against simulated state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478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0826" y="2075688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06" y="22585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0826" y="29260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breakdown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30826" y="3264408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of a command explained as you type it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83080"/>
            <a:ext cx="3515258" cy="2103120"/>
          </a:xfrm>
          <a:prstGeom prst="roundRect">
            <a:avLst>
              <a:gd name="adj" fmla="val 478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0405" y="2075688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285" y="225856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20405" y="29260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tutorials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20405" y="3264408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inspect → repair → verify learning path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478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361688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54456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52120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cluster dashboard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41248" y="5550408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workloads, services, config &amp; storage, cluster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478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0826" y="4361688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706" y="4544568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30826" y="52120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&amp; field guide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30826" y="5550408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exactly what the grader is checking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069080"/>
            <a:ext cx="3515258" cy="2103120"/>
          </a:xfrm>
          <a:prstGeom prst="roundRect">
            <a:avLst>
              <a:gd name="adj" fmla="val 4783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20405" y="4361688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285" y="4544568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20405" y="52120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Free-play sandbox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420405" y="5550408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mutable cluster for common kubectl verbs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MISSIONS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 with real cluster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kubectl verbs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09574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709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04518" y="2057400"/>
            <a:ext cx="1130198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8" name="Text 6"/>
          <p:cNvSpPr/>
          <p:nvPr/>
        </p:nvSpPr>
        <p:spPr>
          <a:xfrm>
            <a:off x="1404518" y="2057400"/>
            <a:ext cx="11301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81021" y="2057400"/>
            <a:ext cx="1887322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2681021" y="2057400"/>
            <a:ext cx="18873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deployment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14646" y="2057400"/>
            <a:ext cx="709574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4714646" y="2057400"/>
            <a:ext cx="709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0525" y="2057400"/>
            <a:ext cx="961949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14" name="Text 12"/>
          <p:cNvSpPr/>
          <p:nvPr/>
        </p:nvSpPr>
        <p:spPr>
          <a:xfrm>
            <a:off x="5570525" y="2057400"/>
            <a:ext cx="9619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24328"/>
            <a:ext cx="1214323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24328"/>
            <a:ext cx="12143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image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09267" y="2624328"/>
            <a:ext cx="877824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18" name="Text 16"/>
          <p:cNvSpPr/>
          <p:nvPr/>
        </p:nvSpPr>
        <p:spPr>
          <a:xfrm>
            <a:off x="1909267" y="2624328"/>
            <a:ext cx="877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33395" y="2624328"/>
            <a:ext cx="877824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2933395" y="2624328"/>
            <a:ext cx="877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57523" y="2624328"/>
            <a:ext cx="1130198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3957523" y="2624328"/>
            <a:ext cx="11301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4026" y="2624328"/>
            <a:ext cx="877824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5234026" y="2624328"/>
            <a:ext cx="877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191256"/>
            <a:ext cx="961949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191256"/>
            <a:ext cx="9619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56893" y="3191256"/>
            <a:ext cx="1550822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1656893" y="3191256"/>
            <a:ext cx="15508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api-resources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4019" y="3191256"/>
            <a:ext cx="1046074" cy="420624"/>
          </a:xfrm>
          <a:prstGeom prst="roundRect">
            <a:avLst>
              <a:gd name="adj" fmla="val 21739"/>
            </a:avLst>
          </a:prstGeom>
          <a:solidFill>
            <a:srgbClr val="EDE9FE"/>
          </a:solidFill>
          <a:ln/>
        </p:spPr>
      </p:sp>
      <p:sp>
        <p:nvSpPr>
          <p:cNvPr id="30" name="Text 28"/>
          <p:cNvSpPr/>
          <p:nvPr/>
        </p:nvSpPr>
        <p:spPr>
          <a:xfrm>
            <a:off x="3354019" y="3191256"/>
            <a:ext cx="1046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6263640" cy="1371600"/>
          </a:xfrm>
          <a:prstGeom prst="roundRect">
            <a:avLst>
              <a:gd name="adj" fmla="val 7333"/>
            </a:avLst>
          </a:prstGeom>
          <a:solidFill>
            <a:srgbClr val="F6F4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672" y="468172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4823460"/>
            <a:ext cx="283464" cy="28346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554480" y="457200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 cluster has state.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reads reflect earlier mutations, so create → scale → get behaves like a real session — not canned output.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178040" y="1572768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information architecture</a:t>
            </a:r>
            <a:endParaRPr lang="en-US" sz="1550" dirty="0"/>
          </a:p>
        </p:txBody>
      </p:sp>
      <p:sp>
        <p:nvSpPr>
          <p:cNvPr id="36" name="Shape 33"/>
          <p:cNvSpPr/>
          <p:nvPr/>
        </p:nvSpPr>
        <p:spPr>
          <a:xfrm>
            <a:off x="7178040" y="2057400"/>
            <a:ext cx="4462272" cy="603504"/>
          </a:xfrm>
          <a:prstGeom prst="roundRect">
            <a:avLst>
              <a:gd name="adj" fmla="val 16667"/>
            </a:avLst>
          </a:prstGeom>
          <a:solidFill>
            <a:srgbClr val="F6F4FF"/>
          </a:solidFill>
          <a:ln/>
        </p:spPr>
      </p:sp>
      <p:sp>
        <p:nvSpPr>
          <p:cNvPr id="37" name="Shape 34"/>
          <p:cNvSpPr/>
          <p:nvPr/>
        </p:nvSpPr>
        <p:spPr>
          <a:xfrm>
            <a:off x="7342632" y="21579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169" y="2250521"/>
            <a:ext cx="217261" cy="217261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909560" y="2057400"/>
            <a:ext cx="3547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7178040" y="2779776"/>
            <a:ext cx="4462272" cy="603504"/>
          </a:xfrm>
          <a:prstGeom prst="roundRect">
            <a:avLst>
              <a:gd name="adj" fmla="val 16667"/>
            </a:avLst>
          </a:prstGeom>
          <a:solidFill>
            <a:srgbClr val="F6F4FF"/>
          </a:solidFill>
          <a:ln/>
        </p:spPr>
      </p:sp>
      <p:sp>
        <p:nvSpPr>
          <p:cNvPr id="41" name="Shape 37"/>
          <p:cNvSpPr/>
          <p:nvPr/>
        </p:nvSpPr>
        <p:spPr>
          <a:xfrm>
            <a:off x="7342632" y="28803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169" y="2972897"/>
            <a:ext cx="217261" cy="21726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909560" y="2779776"/>
            <a:ext cx="3547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>
            <a:off x="7178040" y="3502152"/>
            <a:ext cx="4462272" cy="603504"/>
          </a:xfrm>
          <a:prstGeom prst="roundRect">
            <a:avLst>
              <a:gd name="adj" fmla="val 16667"/>
            </a:avLst>
          </a:prstGeom>
          <a:solidFill>
            <a:srgbClr val="F6F4FF"/>
          </a:solidFill>
          <a:ln/>
        </p:spPr>
      </p:sp>
      <p:sp>
        <p:nvSpPr>
          <p:cNvPr id="45" name="Shape 40"/>
          <p:cNvSpPr/>
          <p:nvPr/>
        </p:nvSpPr>
        <p:spPr>
          <a:xfrm>
            <a:off x="7342632" y="360273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169" y="3695273"/>
            <a:ext cx="217261" cy="217261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909560" y="3502152"/>
            <a:ext cx="3547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7178040" y="4224528"/>
            <a:ext cx="4462272" cy="603504"/>
          </a:xfrm>
          <a:prstGeom prst="roundRect">
            <a:avLst>
              <a:gd name="adj" fmla="val 16667"/>
            </a:avLst>
          </a:prstGeom>
          <a:solidFill>
            <a:srgbClr val="F6F4FF"/>
          </a:solidFill>
          <a:ln/>
        </p:spPr>
      </p:sp>
      <p:sp>
        <p:nvSpPr>
          <p:cNvPr id="49" name="Shape 43"/>
          <p:cNvSpPr/>
          <p:nvPr/>
        </p:nvSpPr>
        <p:spPr>
          <a:xfrm>
            <a:off x="7342632" y="43251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169" y="4417649"/>
            <a:ext cx="217261" cy="217261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909560" y="4224528"/>
            <a:ext cx="3547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storage</a:t>
            </a:r>
            <a:endParaRPr lang="en-US" sz="1350" dirty="0"/>
          </a:p>
        </p:txBody>
      </p:sp>
      <p:sp>
        <p:nvSpPr>
          <p:cNvPr id="52" name="Shape 45"/>
          <p:cNvSpPr/>
          <p:nvPr/>
        </p:nvSpPr>
        <p:spPr>
          <a:xfrm>
            <a:off x="7178040" y="4946904"/>
            <a:ext cx="4462272" cy="603504"/>
          </a:xfrm>
          <a:prstGeom prst="roundRect">
            <a:avLst>
              <a:gd name="adj" fmla="val 16667"/>
            </a:avLst>
          </a:prstGeom>
          <a:solidFill>
            <a:srgbClr val="F6F4FF"/>
          </a:solidFill>
          <a:ln/>
        </p:spPr>
      </p:sp>
      <p:sp>
        <p:nvSpPr>
          <p:cNvPr id="53" name="Shape 46"/>
          <p:cNvSpPr/>
          <p:nvPr/>
        </p:nvSpPr>
        <p:spPr>
          <a:xfrm>
            <a:off x="7342632" y="504748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169" y="5140025"/>
            <a:ext cx="217261" cy="217261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7909560" y="4946904"/>
            <a:ext cx="3547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350" dirty="0"/>
          </a:p>
        </p:txBody>
      </p:sp>
      <p:sp>
        <p:nvSpPr>
          <p:cNvPr id="56" name="Text 48"/>
          <p:cNvSpPr/>
          <p:nvPr/>
        </p:nvSpPr>
        <p:spPr>
          <a:xfrm>
            <a:off x="7178040" y="5687568"/>
            <a:ext cx="44622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latest command maps to the section that matters next.</a:t>
            </a:r>
            <a:endParaRPr lang="en-US" sz="1150" dirty="0"/>
          </a:p>
        </p:txBody>
      </p:sp>
      <p:sp>
        <p:nvSpPr>
          <p:cNvPr id="57" name="Text 49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in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977640"/>
          </a:xfrm>
          <a:prstGeom prst="roundRect">
            <a:avLst>
              <a:gd name="adj" fmla="val 2529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56816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2496" y="20299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(Go)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44752" y="29077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CLI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444752" y="3227832"/>
            <a:ext cx="4133088" cy="420624"/>
          </a:xfrm>
          <a:prstGeom prst="roundRect">
            <a:avLst>
              <a:gd name="adj" fmla="val 15217"/>
            </a:avLst>
          </a:prstGeom>
          <a:solidFill>
            <a:srgbClr val="1A1136"/>
          </a:solidFill>
          <a:ln/>
        </p:spPr>
      </p:sp>
      <p:sp>
        <p:nvSpPr>
          <p:cNvPr id="12" name="Text 9"/>
          <p:cNvSpPr/>
          <p:nvPr/>
        </p:nvSpPr>
        <p:spPr>
          <a:xfrm>
            <a:off x="1572768" y="322783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build -o cka-sim ./cmd/cka-sim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3822192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44752" y="38039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self-test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444752" y="4123944"/>
            <a:ext cx="4133088" cy="420624"/>
          </a:xfrm>
          <a:prstGeom prst="roundRect">
            <a:avLst>
              <a:gd name="adj" fmla="val 15217"/>
            </a:avLst>
          </a:prstGeom>
          <a:solidFill>
            <a:srgbClr val="1A1136"/>
          </a:solidFill>
          <a:ln/>
        </p:spPr>
      </p:sp>
      <p:sp>
        <p:nvSpPr>
          <p:cNvPr id="17" name="Text 14"/>
          <p:cNvSpPr/>
          <p:nvPr/>
        </p:nvSpPr>
        <p:spPr>
          <a:xfrm>
            <a:off x="1572768" y="412394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./cka-sim self-test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" y="4718304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44752" y="47000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Inject, then grade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444752" y="5020056"/>
            <a:ext cx="4133088" cy="420624"/>
          </a:xfrm>
          <a:prstGeom prst="roundRect">
            <a:avLst>
              <a:gd name="adj" fmla="val 15217"/>
            </a:avLst>
          </a:prstGeom>
          <a:solidFill>
            <a:srgbClr val="1A1136"/>
          </a:solidFill>
          <a:ln/>
        </p:spPr>
      </p:sp>
      <p:sp>
        <p:nvSpPr>
          <p:cNvPr id="22" name="Text 19"/>
          <p:cNvSpPr/>
          <p:nvPr/>
        </p:nvSpPr>
        <p:spPr>
          <a:xfrm>
            <a:off x="1572768" y="502005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./cka-sim inject … &amp;&amp; ./cka-sim grade …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45352" y="1645920"/>
            <a:ext cx="5394960" cy="3977640"/>
          </a:xfrm>
          <a:prstGeom prst="roundRect">
            <a:avLst>
              <a:gd name="adj" fmla="val 2529"/>
            </a:avLst>
          </a:prstGeom>
          <a:solidFill>
            <a:srgbClr val="F6F4FF"/>
          </a:solidFill>
          <a:ln/>
          <a:effectLst>
            <a:outerShdw sx="100000" sy="100000" kx="0" ky="0" algn="bl" rotWithShape="0" blurRad="114300" dist="38100" dir="5400000">
              <a:srgbClr val="A78BFA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74536" y="1956816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12140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379208" y="20299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611112" y="292608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8" name="Text 24"/>
          <p:cNvSpPr/>
          <p:nvPr/>
        </p:nvSpPr>
        <p:spPr>
          <a:xfrm>
            <a:off x="6611112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141464" y="29077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web app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7141464" y="3227832"/>
            <a:ext cx="4133088" cy="420624"/>
          </a:xfrm>
          <a:prstGeom prst="roundRect">
            <a:avLst>
              <a:gd name="adj" fmla="val 15217"/>
            </a:avLst>
          </a:prstGeom>
          <a:solidFill>
            <a:srgbClr val="1A1136"/>
          </a:solidFill>
          <a:ln/>
        </p:spPr>
      </p:sp>
      <p:sp>
        <p:nvSpPr>
          <p:cNvPr id="31" name="Text 27"/>
          <p:cNvSpPr/>
          <p:nvPr/>
        </p:nvSpPr>
        <p:spPr>
          <a:xfrm>
            <a:off x="7269480" y="322783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web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611112" y="3822192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3" name="Text 29"/>
          <p:cNvSpPr/>
          <p:nvPr/>
        </p:nvSpPr>
        <p:spPr>
          <a:xfrm>
            <a:off x="6611112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7141464" y="38039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7141464" y="4123944"/>
            <a:ext cx="4133088" cy="420624"/>
          </a:xfrm>
          <a:prstGeom prst="roundRect">
            <a:avLst>
              <a:gd name="adj" fmla="val 15217"/>
            </a:avLst>
          </a:prstGeom>
          <a:solidFill>
            <a:srgbClr val="1A1136"/>
          </a:solidFill>
          <a:ln/>
        </p:spPr>
      </p:sp>
      <p:sp>
        <p:nvSpPr>
          <p:cNvPr id="36" name="Text 32"/>
          <p:cNvSpPr/>
          <p:nvPr/>
        </p:nvSpPr>
        <p:spPr>
          <a:xfrm>
            <a:off x="7269480" y="412394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611112" y="4718304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8" name="Text 34"/>
          <p:cNvSpPr/>
          <p:nvPr/>
        </p:nvSpPr>
        <p:spPr>
          <a:xfrm>
            <a:off x="6611112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7141464" y="47000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dev server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7141464" y="5020056"/>
            <a:ext cx="4133088" cy="420624"/>
          </a:xfrm>
          <a:prstGeom prst="roundRect">
            <a:avLst>
              <a:gd name="adj" fmla="val 15217"/>
            </a:avLst>
          </a:prstGeom>
          <a:solidFill>
            <a:srgbClr val="1A1136"/>
          </a:solidFill>
          <a:ln/>
        </p:spPr>
      </p:sp>
      <p:sp>
        <p:nvSpPr>
          <p:cNvPr id="41" name="Text 37"/>
          <p:cNvSpPr/>
          <p:nvPr/>
        </p:nvSpPr>
        <p:spPr>
          <a:xfrm>
            <a:off x="7269480" y="502005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48640" y="5943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3" name="Text 39"/>
          <p:cNvSpPr/>
          <p:nvPr/>
        </p:nvSpPr>
        <p:spPr>
          <a:xfrm>
            <a:off x="548640" y="5943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1.21+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2148840" y="594360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5" name="Text 41"/>
          <p:cNvSpPr/>
          <p:nvPr/>
        </p:nvSpPr>
        <p:spPr>
          <a:xfrm>
            <a:off x="2148840" y="5943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3977640" y="59436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7" name="Text 43"/>
          <p:cNvSpPr/>
          <p:nvPr/>
        </p:nvSpPr>
        <p:spPr>
          <a:xfrm>
            <a:off x="3977640" y="5943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(live mode)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6492240" y="59436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9" name="Text 45"/>
          <p:cNvSpPr/>
          <p:nvPr/>
        </p:nvSpPr>
        <p:spPr>
          <a:xfrm>
            <a:off x="6492240" y="5943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CKA Practice Simulator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8321040" y="9144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8448" y="15727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INDUSTRIES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777240" y="2057400"/>
            <a:ext cx="758952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it. Fix it. Pass.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804672" y="33375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Kubernetes practice that mirrors the real CKA exam — inject a fault, repair the workload, and let the grader confirm you got it right.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22960" y="4617720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24104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768596"/>
            <a:ext cx="265176" cy="2651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4617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purpleindustries.us/kubernetes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822960" y="5330952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241047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481828"/>
            <a:ext cx="265176" cy="2651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63040" y="53309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github.com/BarnsL/Kubernetes-Simulator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Industries ©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Purple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— CKA Practice Simulator</dc:title>
  <dc:subject>PptxGenJS Presentation</dc:subject>
  <dc:creator>Purple Industries</dc:creator>
  <cp:lastModifiedBy>Purple Industries</cp:lastModifiedBy>
  <cp:revision>1</cp:revision>
  <dcterms:created xsi:type="dcterms:W3CDTF">2026-06-26T17:20:04Z</dcterms:created>
  <dcterms:modified xsi:type="dcterms:W3CDTF">2026-06-26T17:20:04Z</dcterms:modified>
</cp:coreProperties>
</file>